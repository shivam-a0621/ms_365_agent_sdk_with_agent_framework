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real purpose: turn today's manual L1 support for HDFC's ~64 AE workflows into a chat-driven agent that acts ON the live AE engine via the AE MCP server — not a generic chatbot. The platform (handoff routing, approvals, durable resume, audit) is already built; the engine operations are wired through the MCP server. Keep it concrete: the same work the support team does today, done conversationally.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stakes for a senior: ~64 workflows are load-bearing for HDFC's daily operations. Frame uptime as a business metric — a failed or stuck run means blocked employees and delayed work. That's why L1 quality matters and why automating it well is worth doing. This is the customer context behind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Make the pain concrete: the work is inherently reactive (nothing happens until a human notices), which inflates MTTR and is brutal after hours. It's repetitive lookup-and-restart work that still demands deep AE-engine expertise — the scaling wall and key-person risk. Every one of these manual tasks maps to an engine capability we can drive conversationally.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Ground every operation honestly. The 'look up &amp; investigate' side is the strongest: the AE MCP server exposes request/schedule/workflow detail tools the analyst agent already calls. The 'act' side is real as PLUMBING (agent-&gt;MCP, background-run-and-notify, durable approvals) but the engine execute/restart tool lives on the AE MCP server and isn't approval-gated yet, and the local ticket body is still a mock. Tell the senior plainly: we are not overclaiming — what's live vs in-progress is on the roadmap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money slide: one concrete failed-workflow conversation that exercises the real flow — investigate (engine via MCP), explain (one reply channel), then act on two branches: a long re-run as a background task with proactive notify, and an approval-gated, audited ticket. Be precise that the approval + audit are verified for the local ticket tool today; gating the engine re-run is a small, planned step.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top to bottom as the path of one L1 message. The Bot Host is thin M365-SDK plumbing on FastAPI; the real work is the channel-neutral Conversation Service. The key idea is coordinator + specialist: only the AE Engine Analyst touches the engine, and only through the AE MCP server — a single, observable access path. Crucially we don't hardcode engine capabilities: the analyst learns the available tools from the MCP server at connect time, so new L1 operations appear without a code change. Postgres makes everything durable + auditable; Azure OpenAI is the brain.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as a story. The coordinator never answers engine questions itself — it routes to the analyst, which talks to the engine only through the MCP server and summarizes back via one reply channel (keeping multi-agent chatter away from the user). The fork is read vs. act: monitoring is answered on the spot; restart/execute is gated. When gated, the turn suspends — we persist the pending approval + a checkpoint and hand a card back to Teams. The resume is the clever part: it can land on a different worker or after a restart and still continue, and the analyst still remembers the original request — so it acts and reports, it doesn't start over.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each guardrail against bank reality. Approvals: a re-run on a production HDFC workflow has blast radius, so a human stays in the loop on exactly those actions — read-only monitoring never interrupts, keeping the assistant fast for the ~90%% of L1 work that's just lookups. Durability matters because these workflows are business-critical. Audit is non-negotiable for a bank: per conversation we can reconstruct who asked what, which engine tool ran, what it returned, and who approved it. Honest note: approval-gating is wired for local tools today; binding it to the engine re-run is a small planned step.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human cost it removes: today L1 is reactive, repetitive, and needs engine experts. The assistant turns those lookups and re-runs into a chat, with a full audit trail and human approval on anything risky. Frame AE's upside as productization and scale, not headcount cuts.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honesty slide — it earns trust for everything else. The handoff, HITL approvals, durable checkpointing, background-plus-proactive, and audit are genuinely implemented; the analyst really does connect to the AE MCP server, and detail-lookup tools (request/schedule/workflow) are available there. Be candid about 'wiring up': the engine execute/restart tool is server-side and not approval-gated yet, and two local bodies (the ticket tool and the long-job runner) are still placeholders. Don't claim a ticket is filed in HDFC's helpdesk today, or that the assistant restarts workflows with approval today — those are the near-term integration steps.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tying back to the business: uptime of these workflows is critical for HDFC, and this moves L1 from engine-experts to an audited assistant anyone can talk to. Keep it credible by restating built-vs-planned in one breath. End on a concrete ask so the senior leaves with a decision: which L1 runbooks to harden first and which AE MCP tools to prioritize.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029200"/>
            <a:ext cx="12191695" cy="91440"/>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828800"/>
            <a:ext cx="10607040" cy="2377440"/>
          </a:xfrm>
          <a:prstGeom prst="rect">
            <a:avLst/>
          </a:prstGeom>
          <a:noFill/>
        </p:spPr>
        <p:txBody>
          <a:bodyPr wrap="square" anchor="t">
            <a:spAutoFit/>
          </a:bodyPr>
          <a:lstStyle/>
          <a:p>
            <a:pPr algn="l">
              <a:defRPr sz="1600" b="1">
                <a:solidFill>
                  <a:srgbClr val="2E86DE"/>
                </a:solidFill>
                <a:latin typeface="Calibri"/>
              </a:defRPr>
            </a:pPr>
            <a:r>
              <a:t>AE × HDFC  ·  L1 SUPPORT, AUTOMATED</a:t>
            </a:r>
          </a:p>
          <a:p>
            <a:pPr algn="l">
              <a:defRPr sz="3600" b="1">
                <a:solidFill>
                  <a:srgbClr val="FFFFFF"/>
                </a:solidFill>
                <a:latin typeface="Calibri"/>
              </a:defRPr>
            </a:pPr>
            <a:r>
              <a:t>Agentic L1 Support for HDFC's</a:t>
            </a:r>
          </a:p>
          <a:p>
            <a:pPr algn="l">
              <a:defRPr sz="3600" b="1">
                <a:solidFill>
                  <a:srgbClr val="FFFFFF"/>
                </a:solidFill>
                <a:latin typeface="Calibri"/>
              </a:defRPr>
            </a:pPr>
            <a:r>
              <a:t>AutomationEdge Workflows</a:t>
            </a:r>
          </a:p>
        </p:txBody>
      </p:sp>
      <p:sp>
        <p:nvSpPr>
          <p:cNvPr id="5" name="TextBox 4"/>
          <p:cNvSpPr txBox="1"/>
          <p:nvPr/>
        </p:nvSpPr>
        <p:spPr>
          <a:xfrm>
            <a:off x="822960" y="5257800"/>
            <a:ext cx="10607040" cy="1005840"/>
          </a:xfrm>
          <a:prstGeom prst="rect">
            <a:avLst/>
          </a:prstGeom>
          <a:noFill/>
        </p:spPr>
        <p:txBody>
          <a:bodyPr wrap="square" anchor="t">
            <a:spAutoFit/>
          </a:bodyPr>
          <a:lstStyle/>
          <a:p>
            <a:pPr algn="l">
              <a:defRPr sz="1600" b="0">
                <a:solidFill>
                  <a:srgbClr val="EEF1F7"/>
                </a:solidFill>
                <a:latin typeface="Calibri"/>
              </a:defRPr>
            </a:pPr>
            <a:r>
              <a:t>A Teams chat assistant that monitors, troubleshoots, and operates the AE engine —</a:t>
            </a:r>
          </a:p>
          <a:p>
            <a:pPr algn="l">
              <a:defRPr sz="1600" b="0">
                <a:solidFill>
                  <a:srgbClr val="EEF1F7"/>
                </a:solidFill>
                <a:latin typeface="Calibri"/>
              </a:defRPr>
            </a:pPr>
            <a:r>
              <a:t>with human approval on risky actions and a full audit trail.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146304" cy="56692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38912"/>
            <a:ext cx="10698480" cy="960120"/>
          </a:xfrm>
          <a:prstGeom prst="rect">
            <a:avLst/>
          </a:prstGeom>
          <a:noFill/>
        </p:spPr>
        <p:txBody>
          <a:bodyPr wrap="square" anchor="t">
            <a:spAutoFit/>
          </a:bodyPr>
          <a:lstStyle/>
          <a:p>
            <a:pPr algn="l">
              <a:defRPr sz="1200" b="1">
                <a:solidFill>
                  <a:srgbClr val="2E86DE"/>
                </a:solidFill>
                <a:latin typeface="Calibri"/>
              </a:defRPr>
            </a:pPr>
            <a:r>
              <a:t>CONTEXT</a:t>
            </a:r>
          </a:p>
          <a:p>
            <a:pPr algn="l">
              <a:defRPr sz="2700" b="1">
                <a:solidFill>
                  <a:srgbClr val="16213A"/>
                </a:solidFill>
                <a:latin typeface="Calibri"/>
              </a:defRPr>
            </a:pPr>
            <a:r>
              <a:t>HDFC's daily work runs on these workflows</a:t>
            </a:r>
          </a:p>
        </p:txBody>
      </p:sp>
      <p:sp>
        <p:nvSpPr>
          <p:cNvPr id="4" name="Rectangle 3"/>
          <p:cNvSpPr/>
          <p:nvPr/>
        </p:nvSpPr>
        <p:spPr>
          <a:xfrm>
            <a:off x="640080" y="1389888"/>
            <a:ext cx="10881360" cy="25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72768"/>
            <a:ext cx="10607040" cy="4709160"/>
          </a:xfrm>
          <a:prstGeom prst="rect">
            <a:avLst/>
          </a:prstGeom>
          <a:noFill/>
        </p:spPr>
        <p:txBody>
          <a:bodyPr wrap="square">
            <a:spAutoFit/>
          </a:bodyPr>
          <a:lstStyle/>
          <a:p>
            <a:pPr>
              <a:spcAft>
                <a:spcPts val="800"/>
              </a:spcAft>
              <a:defRPr sz="1650">
                <a:solidFill>
                  <a:srgbClr val="202836"/>
                </a:solidFill>
                <a:latin typeface="Calibri"/>
              </a:defRPr>
            </a:pPr>
            <a:r>
              <a:t>•  AE has built ~64 production workflows that run for HDFC every day.</a:t>
            </a:r>
          </a:p>
          <a:p>
            <a:pPr>
              <a:spcAft>
                <a:spcPts val="800"/>
              </a:spcAft>
              <a:defRPr sz="1650">
                <a:solidFill>
                  <a:srgbClr val="202836"/>
                </a:solidFill>
                <a:latin typeface="Calibri"/>
              </a:defRPr>
            </a:pPr>
            <a:r>
              <a:t>•  HDFC employees use them to pull data and get their work done — core daily operations, not a back-office nicety.</a:t>
            </a:r>
          </a:p>
          <a:p>
            <a:pPr>
              <a:spcAft>
                <a:spcPts val="800"/>
              </a:spcAft>
              <a:defRPr sz="1650">
                <a:solidFill>
                  <a:srgbClr val="202836"/>
                </a:solidFill>
                <a:latin typeface="Calibri"/>
              </a:defRPr>
            </a:pPr>
            <a:r>
              <a:t>•  When a workflow stalls or fails, real users are blocked — uptime and run-health are business-critical.</a:t>
            </a:r>
          </a:p>
          <a:p>
            <a:pPr>
              <a:spcAft>
                <a:spcPts val="800"/>
              </a:spcAft>
              <a:defRPr sz="1650">
                <a:solidFill>
                  <a:srgbClr val="202836"/>
                </a:solidFill>
                <a:latin typeface="Calibri"/>
              </a:defRPr>
            </a:pPr>
            <a:r>
              <a:t>•  So fast, reliable L1 response on the AE engine is a direct dependency for HDFC's day-to-day work.</a:t>
            </a:r>
          </a:p>
        </p:txBody>
      </p:sp>
      <p:sp>
        <p:nvSpPr>
          <p:cNvPr id="6" name="TextBox 5"/>
          <p:cNvSpPr txBox="1"/>
          <p:nvPr/>
        </p:nvSpPr>
        <p:spPr>
          <a:xfrm>
            <a:off x="640080" y="6455664"/>
            <a:ext cx="10881360" cy="292608"/>
          </a:xfrm>
          <a:prstGeom prst="rect">
            <a:avLst/>
          </a:prstGeom>
          <a:noFill/>
        </p:spPr>
        <p:txBody>
          <a:bodyPr wrap="square" anchor="t">
            <a:spAutoFit/>
          </a:bodyPr>
          <a:lstStyle/>
          <a:p>
            <a:pPr algn="l">
              <a:defRPr sz="900" b="0">
                <a:solidFill>
                  <a:srgbClr val="5E6B80"/>
                </a:solidFill>
                <a:latin typeface="Calibri"/>
              </a:defRPr>
            </a:pPr>
            <a:r>
              <a:t>Agentic L1 Support  ·  HDFC × AutomationEdge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146304" cy="56692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38912"/>
            <a:ext cx="10698480" cy="960120"/>
          </a:xfrm>
          <a:prstGeom prst="rect">
            <a:avLst/>
          </a:prstGeom>
          <a:noFill/>
        </p:spPr>
        <p:txBody>
          <a:bodyPr wrap="square" anchor="t">
            <a:spAutoFit/>
          </a:bodyPr>
          <a:lstStyle/>
          <a:p>
            <a:pPr algn="l">
              <a:defRPr sz="1200" b="1">
                <a:solidFill>
                  <a:srgbClr val="2E86DE"/>
                </a:solidFill>
                <a:latin typeface="Calibri"/>
              </a:defRPr>
            </a:pPr>
            <a:r>
              <a:t>THE PROBLEM</a:t>
            </a:r>
          </a:p>
          <a:p>
            <a:pPr algn="l">
              <a:defRPr sz="2700" b="1">
                <a:solidFill>
                  <a:srgbClr val="16213A"/>
                </a:solidFill>
                <a:latin typeface="Calibri"/>
              </a:defRPr>
            </a:pPr>
            <a:r>
              <a:t>L1 support today is manual and reactive</a:t>
            </a:r>
          </a:p>
        </p:txBody>
      </p:sp>
      <p:sp>
        <p:nvSpPr>
          <p:cNvPr id="4" name="Rectangle 3"/>
          <p:cNvSpPr/>
          <p:nvPr/>
        </p:nvSpPr>
        <p:spPr>
          <a:xfrm>
            <a:off x="640080" y="1389888"/>
            <a:ext cx="10881360" cy="25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72768"/>
            <a:ext cx="10607040" cy="4709160"/>
          </a:xfrm>
          <a:prstGeom prst="rect">
            <a:avLst/>
          </a:prstGeom>
          <a:noFill/>
        </p:spPr>
        <p:txBody>
          <a:bodyPr wrap="square">
            <a:spAutoFit/>
          </a:bodyPr>
          <a:lstStyle/>
          <a:p>
            <a:pPr>
              <a:spcAft>
                <a:spcPts val="800"/>
              </a:spcAft>
              <a:defRPr sz="1650">
                <a:solidFill>
                  <a:srgbClr val="202836"/>
                </a:solidFill>
                <a:latin typeface="Calibri"/>
              </a:defRPr>
            </a:pPr>
            <a:r>
              <a:t>•  A support team manually monitors runs, hunts errors, and restarts workflows — reactive and repetitive.</a:t>
            </a:r>
          </a:p>
          <a:p>
            <a:pPr>
              <a:spcAft>
                <a:spcPts val="800"/>
              </a:spcAft>
              <a:defRPr sz="1650">
                <a:solidFill>
                  <a:srgbClr val="202836"/>
                </a:solidFill>
                <a:latin typeface="Calibri"/>
              </a:defRPr>
            </a:pPr>
            <a:r>
              <a:t>•  Routine lookups (request, schedule, agent, health, run-times) are done by hand, one at a time.</a:t>
            </a:r>
          </a:p>
          <a:p>
            <a:pPr>
              <a:spcAft>
                <a:spcPts val="800"/>
              </a:spcAft>
              <a:defRPr sz="1650">
                <a:solidFill>
                  <a:srgbClr val="202836"/>
                </a:solidFill>
                <a:latin typeface="Calibri"/>
              </a:defRPr>
            </a:pPr>
            <a:r>
              <a:t>•  Every task needs people who know the AE engine deeply — a scarce, hard-to-scale skill.</a:t>
            </a:r>
          </a:p>
          <a:p>
            <a:pPr>
              <a:spcAft>
                <a:spcPts val="800"/>
              </a:spcAft>
              <a:defRPr sz="1650">
                <a:solidFill>
                  <a:srgbClr val="202836"/>
                </a:solidFill>
                <a:latin typeface="Calibri"/>
              </a:defRPr>
            </a:pPr>
            <a:r>
              <a:t>•  MTTR suffers: incidents wait for a human to notice; nights and weekends sit until someone is online.</a:t>
            </a:r>
          </a:p>
          <a:p>
            <a:pPr>
              <a:spcAft>
                <a:spcPts val="800"/>
              </a:spcAft>
              <a:defRPr sz="1650">
                <a:solidFill>
                  <a:srgbClr val="202836"/>
                </a:solidFill>
                <a:latin typeface="Calibri"/>
              </a:defRPr>
            </a:pPr>
            <a:r>
              <a:t>•  Escalations mean manually raising and routing tickets — more delay, more handoffs, more room for error.</a:t>
            </a:r>
          </a:p>
        </p:txBody>
      </p:sp>
      <p:sp>
        <p:nvSpPr>
          <p:cNvPr id="6" name="TextBox 5"/>
          <p:cNvSpPr txBox="1"/>
          <p:nvPr/>
        </p:nvSpPr>
        <p:spPr>
          <a:xfrm>
            <a:off x="640080" y="6455664"/>
            <a:ext cx="10881360" cy="292608"/>
          </a:xfrm>
          <a:prstGeom prst="rect">
            <a:avLst/>
          </a:prstGeom>
          <a:noFill/>
        </p:spPr>
        <p:txBody>
          <a:bodyPr wrap="square" anchor="t">
            <a:spAutoFit/>
          </a:bodyPr>
          <a:lstStyle/>
          <a:p>
            <a:pPr algn="l">
              <a:defRPr sz="900" b="0">
                <a:solidFill>
                  <a:srgbClr val="5E6B80"/>
                </a:solidFill>
                <a:latin typeface="Calibri"/>
              </a:defRPr>
            </a:pPr>
            <a:r>
              <a:t>Agentic L1 Support  ·  HDFC × AutomationEdge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146304" cy="56692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38912"/>
            <a:ext cx="10698480" cy="960120"/>
          </a:xfrm>
          <a:prstGeom prst="rect">
            <a:avLst/>
          </a:prstGeom>
          <a:noFill/>
        </p:spPr>
        <p:txBody>
          <a:bodyPr wrap="square" anchor="t">
            <a:spAutoFit/>
          </a:bodyPr>
          <a:lstStyle/>
          <a:p>
            <a:pPr algn="l">
              <a:defRPr sz="1200" b="1">
                <a:solidFill>
                  <a:srgbClr val="2E86DE"/>
                </a:solidFill>
                <a:latin typeface="Calibri"/>
              </a:defRPr>
            </a:pPr>
            <a:r>
              <a:t>CAPABILITIES</a:t>
            </a:r>
          </a:p>
          <a:p>
            <a:pPr algn="l">
              <a:defRPr sz="2700" b="1">
                <a:solidFill>
                  <a:srgbClr val="16213A"/>
                </a:solidFill>
                <a:latin typeface="Calibri"/>
              </a:defRPr>
            </a:pPr>
            <a:r>
              <a:t>What the assistant does</a:t>
            </a:r>
          </a:p>
        </p:txBody>
      </p:sp>
      <p:sp>
        <p:nvSpPr>
          <p:cNvPr id="4" name="Rectangle 3"/>
          <p:cNvSpPr/>
          <p:nvPr/>
        </p:nvSpPr>
        <p:spPr>
          <a:xfrm>
            <a:off x="640080" y="1389888"/>
            <a:ext cx="10881360" cy="25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72768"/>
            <a:ext cx="10607040" cy="4709160"/>
          </a:xfrm>
          <a:prstGeom prst="rect">
            <a:avLst/>
          </a:prstGeom>
          <a:noFill/>
        </p:spPr>
        <p:txBody>
          <a:bodyPr wrap="square">
            <a:spAutoFit/>
          </a:bodyPr>
          <a:lstStyle/>
          <a:p>
            <a:pPr>
              <a:spcAft>
                <a:spcPts val="800"/>
              </a:spcAft>
              <a:defRPr sz="1650">
                <a:solidFill>
                  <a:srgbClr val="202836"/>
                </a:solidFill>
                <a:latin typeface="Calibri"/>
              </a:defRPr>
            </a:pPr>
            <a:r>
              <a:t>•  Ask in plain language; the assistant talks to the AE engine for you (via the AE MCP server).</a:t>
            </a:r>
          </a:p>
          <a:p>
            <a:pPr>
              <a:spcBef>
                <a:spcPts val="800"/>
              </a:spcBef>
              <a:spcAft>
                <a:spcPts val="400"/>
              </a:spcAft>
              <a:defRPr sz="1500" b="1">
                <a:solidFill>
                  <a:srgbClr val="12A594"/>
                </a:solidFill>
                <a:latin typeface="Calibri"/>
              </a:defRPr>
            </a:pPr>
            <a:r>
              <a:t>Look up &amp; investigate  —  read-only, fast, answered in chat</a:t>
            </a:r>
          </a:p>
          <a:p>
            <a:pPr lvl="1">
              <a:spcAft>
                <a:spcPts val="500"/>
              </a:spcAft>
              <a:defRPr sz="1400">
                <a:solidFill>
                  <a:srgbClr val="5E6B80"/>
                </a:solidFill>
                <a:latin typeface="Calibri"/>
              </a:defRPr>
            </a:pPr>
            <a:r>
              <a:t>–  Monitor &amp; list workflows, schedules, agents, and recent activity.</a:t>
            </a:r>
          </a:p>
          <a:p>
            <a:pPr lvl="1">
              <a:spcAft>
                <a:spcPts val="500"/>
              </a:spcAft>
              <a:defRPr sz="1400">
                <a:solidFill>
                  <a:srgbClr val="5E6B80"/>
                </a:solidFill>
                <a:latin typeface="Calibri"/>
              </a:defRPr>
            </a:pPr>
            <a:r>
              <a:t>–  Get a run / schedule / workflow's details — status, failure reason, failed step, outputs, config.</a:t>
            </a:r>
          </a:p>
          <a:p>
            <a:pPr lvl="1">
              <a:spcAft>
                <a:spcPts val="500"/>
              </a:spcAft>
              <a:defRPr sz="1400">
                <a:solidFill>
                  <a:srgbClr val="5E6B80"/>
                </a:solidFill>
                <a:latin typeface="Calibri"/>
              </a:defRPr>
            </a:pPr>
            <a:r>
              <a:t>–  Explain why a run failed, and surface agent-health trends &amp; upcoming run-times.</a:t>
            </a:r>
          </a:p>
          <a:p>
            <a:pPr>
              <a:spcBef>
                <a:spcPts val="800"/>
              </a:spcBef>
              <a:spcAft>
                <a:spcPts val="400"/>
              </a:spcAft>
              <a:defRPr sz="1500" b="1">
                <a:solidFill>
                  <a:srgbClr val="12A594"/>
                </a:solidFill>
                <a:latin typeface="Calibri"/>
              </a:defRPr>
            </a:pPr>
            <a:r>
              <a:t>Act  —  guarded by approval + audit</a:t>
            </a:r>
          </a:p>
          <a:p>
            <a:pPr lvl="1">
              <a:spcAft>
                <a:spcPts val="500"/>
              </a:spcAft>
              <a:defRPr sz="1400">
                <a:solidFill>
                  <a:srgbClr val="5E6B80"/>
                </a:solidFill>
                <a:latin typeface="Calibri"/>
              </a:defRPr>
            </a:pPr>
            <a:r>
              <a:t>–  Start / re-run a workflow — long runs go to the background and notify you on completion.</a:t>
            </a:r>
          </a:p>
          <a:p>
            <a:pPr lvl="1">
              <a:spcAft>
                <a:spcPts val="500"/>
              </a:spcAft>
              <a:defRPr sz="1400">
                <a:solidFill>
                  <a:srgbClr val="5E6B80"/>
                </a:solidFill>
                <a:latin typeface="Calibri"/>
              </a:defRPr>
            </a:pPr>
            <a:r>
              <a:t>–  Raise an escalation ticket — human-approved and recorded.</a:t>
            </a:r>
          </a:p>
          <a:p>
            <a:pPr>
              <a:spcAft>
                <a:spcPts val="800"/>
              </a:spcAft>
              <a:defRPr sz="1650">
                <a:solidFill>
                  <a:srgbClr val="202836"/>
                </a:solidFill>
                <a:latin typeface="Calibri"/>
              </a:defRPr>
            </a:pPr>
            <a:r>
              <a:t>•  Maturity varies: detail-lookups are live via the AE MCP server; the “act” side + ticket/ITSM integration are being wired (see roadmap).</a:t>
            </a:r>
          </a:p>
        </p:txBody>
      </p:sp>
      <p:sp>
        <p:nvSpPr>
          <p:cNvPr id="6" name="TextBox 5"/>
          <p:cNvSpPr txBox="1"/>
          <p:nvPr/>
        </p:nvSpPr>
        <p:spPr>
          <a:xfrm>
            <a:off x="640080" y="6455664"/>
            <a:ext cx="10881360" cy="292608"/>
          </a:xfrm>
          <a:prstGeom prst="rect">
            <a:avLst/>
          </a:prstGeom>
          <a:noFill/>
        </p:spPr>
        <p:txBody>
          <a:bodyPr wrap="square" anchor="t">
            <a:spAutoFit/>
          </a:bodyPr>
          <a:lstStyle/>
          <a:p>
            <a:pPr algn="l">
              <a:defRPr sz="900" b="0">
                <a:solidFill>
                  <a:srgbClr val="5E6B80"/>
                </a:solidFill>
                <a:latin typeface="Calibri"/>
              </a:defRPr>
            </a:pPr>
            <a:r>
              <a:t>Agentic L1 Support  ·  HDFC × AutomationEdge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146304" cy="56692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38912"/>
            <a:ext cx="10698480" cy="960120"/>
          </a:xfrm>
          <a:prstGeom prst="rect">
            <a:avLst/>
          </a:prstGeom>
          <a:noFill/>
        </p:spPr>
        <p:txBody>
          <a:bodyPr wrap="square" anchor="t">
            <a:spAutoFit/>
          </a:bodyPr>
          <a:lstStyle/>
          <a:p>
            <a:pPr algn="l">
              <a:defRPr sz="1200" b="1">
                <a:solidFill>
                  <a:srgbClr val="2E86DE"/>
                </a:solidFill>
                <a:latin typeface="Calibri"/>
              </a:defRPr>
            </a:pPr>
            <a:r>
              <a:t>WALKTHROUGH</a:t>
            </a:r>
          </a:p>
          <a:p>
            <a:pPr algn="l">
              <a:defRPr sz="2700" b="1">
                <a:solidFill>
                  <a:srgbClr val="16213A"/>
                </a:solidFill>
                <a:latin typeface="Calibri"/>
              </a:defRPr>
            </a:pPr>
            <a:r>
              <a:t>A typical interaction</a:t>
            </a:r>
          </a:p>
        </p:txBody>
      </p:sp>
      <p:sp>
        <p:nvSpPr>
          <p:cNvPr id="4" name="Rectangle 3"/>
          <p:cNvSpPr/>
          <p:nvPr/>
        </p:nvSpPr>
        <p:spPr>
          <a:xfrm>
            <a:off x="640080" y="1389888"/>
            <a:ext cx="10881360" cy="25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72768"/>
            <a:ext cx="10607040" cy="4709160"/>
          </a:xfrm>
          <a:prstGeom prst="rect">
            <a:avLst/>
          </a:prstGeom>
          <a:noFill/>
        </p:spPr>
        <p:txBody>
          <a:bodyPr wrap="square">
            <a:spAutoFit/>
          </a:bodyPr>
          <a:lstStyle/>
          <a:p>
            <a:pPr>
              <a:spcAft>
                <a:spcPts val="800"/>
              </a:spcAft>
              <a:defRPr sz="1650">
                <a:solidFill>
                  <a:srgbClr val="202836"/>
                </a:solidFill>
                <a:latin typeface="Calibri"/>
              </a:defRPr>
            </a:pPr>
            <a:r>
              <a:t>•  User (in Teams): “The reconciliation workflow failed overnight — what happened?”</a:t>
            </a:r>
          </a:p>
          <a:p>
            <a:pPr>
              <a:spcAft>
                <a:spcPts val="800"/>
              </a:spcAft>
              <a:defRPr sz="1650">
                <a:solidFill>
                  <a:srgbClr val="202836"/>
                </a:solidFill>
                <a:latin typeface="Calibri"/>
              </a:defRPr>
            </a:pPr>
            <a:r>
              <a:t>•  The assistant routes to the AE-engine analyst, pulls the failed run's details + logs, and explains the root cause in one plain-language reply.</a:t>
            </a:r>
          </a:p>
          <a:p>
            <a:pPr>
              <a:spcAft>
                <a:spcPts val="800"/>
              </a:spcAft>
              <a:defRPr sz="1650">
                <a:solidFill>
                  <a:srgbClr val="202836"/>
                </a:solidFill>
                <a:latin typeface="Calibri"/>
              </a:defRPr>
            </a:pPr>
            <a:r>
              <a:t>•  It offers next steps: “I can re-run it, or raise an escalation ticket — which would you like?”</a:t>
            </a:r>
          </a:p>
          <a:p>
            <a:pPr>
              <a:spcAft>
                <a:spcPts val="800"/>
              </a:spcAft>
              <a:defRPr sz="1650">
                <a:solidFill>
                  <a:srgbClr val="202836"/>
                </a:solidFill>
                <a:latin typeface="Calibri"/>
              </a:defRPr>
            </a:pPr>
            <a:r>
              <a:t>•  A long re-run goes to the background: “started — I'll update you”; the user keeps chatting and is notified when it finishes.</a:t>
            </a:r>
          </a:p>
          <a:p>
            <a:pPr>
              <a:spcAft>
                <a:spcPts val="800"/>
              </a:spcAft>
              <a:defRPr sz="1650">
                <a:solidFill>
                  <a:srgbClr val="202836"/>
                </a:solidFill>
                <a:latin typeface="Calibri"/>
              </a:defRPr>
            </a:pPr>
            <a:r>
              <a:t>•  Raising a ticket pauses for the user's approval, then returns the ticket id — every step checkpointed and audited.</a:t>
            </a:r>
          </a:p>
        </p:txBody>
      </p:sp>
      <p:sp>
        <p:nvSpPr>
          <p:cNvPr id="6" name="TextBox 5"/>
          <p:cNvSpPr txBox="1"/>
          <p:nvPr/>
        </p:nvSpPr>
        <p:spPr>
          <a:xfrm>
            <a:off x="640080" y="6455664"/>
            <a:ext cx="10881360" cy="292608"/>
          </a:xfrm>
          <a:prstGeom prst="rect">
            <a:avLst/>
          </a:prstGeom>
          <a:noFill/>
        </p:spPr>
        <p:txBody>
          <a:bodyPr wrap="square" anchor="t">
            <a:spAutoFit/>
          </a:bodyPr>
          <a:lstStyle/>
          <a:p>
            <a:pPr algn="l">
              <a:defRPr sz="900" b="0">
                <a:solidFill>
                  <a:srgbClr val="5E6B80"/>
                </a:solidFill>
                <a:latin typeface="Calibri"/>
              </a:defRPr>
            </a:pPr>
            <a:r>
              <a:t>Agentic L1 Support  ·  HDFC × AutomationEdge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146304" cy="56692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38912"/>
            <a:ext cx="10698480" cy="960120"/>
          </a:xfrm>
          <a:prstGeom prst="rect">
            <a:avLst/>
          </a:prstGeom>
          <a:noFill/>
        </p:spPr>
        <p:txBody>
          <a:bodyPr wrap="square" anchor="t">
            <a:spAutoFit/>
          </a:bodyPr>
          <a:lstStyle/>
          <a:p>
            <a:pPr algn="l">
              <a:defRPr sz="1200" b="1">
                <a:solidFill>
                  <a:srgbClr val="2E86DE"/>
                </a:solidFill>
                <a:latin typeface="Calibri"/>
              </a:defRPr>
            </a:pPr>
            <a:r>
              <a:t>ARCHITECTURE</a:t>
            </a:r>
          </a:p>
          <a:p>
            <a:pPr algn="l">
              <a:defRPr sz="2700" b="1">
                <a:solidFill>
                  <a:srgbClr val="16213A"/>
                </a:solidFill>
                <a:latin typeface="Calibri"/>
              </a:defRPr>
            </a:pPr>
            <a:r>
              <a:t>How it fits together: chat to the AE engine</a:t>
            </a:r>
          </a:p>
        </p:txBody>
      </p:sp>
      <p:sp>
        <p:nvSpPr>
          <p:cNvPr id="4" name="Rectangle 3"/>
          <p:cNvSpPr/>
          <p:nvPr/>
        </p:nvSpPr>
        <p:spPr>
          <a:xfrm>
            <a:off x="640080" y="1389888"/>
            <a:ext cx="10881360" cy="25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517904"/>
            <a:ext cx="7040880" cy="603504"/>
          </a:xfrm>
          <a:prstGeom prst="roundRect">
            <a:avLst/>
          </a:prstGeom>
          <a:solidFill>
            <a:srgbClr val="F6F8FB"/>
          </a:solidFill>
          <a:ln w="1270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6213A"/>
                </a:solidFill>
                <a:latin typeface="Calibri"/>
              </a:defRPr>
            </a:pPr>
            <a:r>
              <a:t>Microsoft Teams  (chat)</a:t>
            </a:r>
          </a:p>
          <a:p>
            <a:pPr>
              <a:defRPr sz="1050">
                <a:solidFill>
                  <a:srgbClr val="5E6B80"/>
                </a:solidFill>
                <a:latin typeface="Calibri"/>
              </a:defRPr>
            </a:pPr>
            <a:r>
              <a:t>the L1 support user asks in plain language</a:t>
            </a:r>
          </a:p>
        </p:txBody>
      </p:sp>
      <p:sp>
        <p:nvSpPr>
          <p:cNvPr id="6" name="Rounded Rectangle 5"/>
          <p:cNvSpPr/>
          <p:nvPr/>
        </p:nvSpPr>
        <p:spPr>
          <a:xfrm>
            <a:off x="731520" y="2244852"/>
            <a:ext cx="7040880" cy="603504"/>
          </a:xfrm>
          <a:prstGeom prst="roundRect">
            <a:avLst/>
          </a:prstGeom>
          <a:solidFill>
            <a:srgbClr val="F6F8FB"/>
          </a:solidFill>
          <a:ln w="1270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6213A"/>
                </a:solidFill>
                <a:latin typeface="Calibri"/>
              </a:defRPr>
            </a:pPr>
            <a:r>
              <a:t>Bot Host  —  FastAPI + M365 Agents SDK</a:t>
            </a:r>
          </a:p>
          <a:p>
            <a:pPr>
              <a:defRPr sz="1050">
                <a:solidFill>
                  <a:srgbClr val="5E6B80"/>
                </a:solidFill>
                <a:latin typeface="Calibri"/>
              </a:defRPr>
            </a:pPr>
            <a:r>
              <a:t>receives messages, renders replies &amp; approval cards</a:t>
            </a:r>
          </a:p>
        </p:txBody>
      </p:sp>
      <p:sp>
        <p:nvSpPr>
          <p:cNvPr id="7" name="Rounded Rectangle 6"/>
          <p:cNvSpPr/>
          <p:nvPr/>
        </p:nvSpPr>
        <p:spPr>
          <a:xfrm>
            <a:off x="731520" y="2971800"/>
            <a:ext cx="7040880" cy="603504"/>
          </a:xfrm>
          <a:prstGeom prst="roundRect">
            <a:avLst/>
          </a:prstGeom>
          <a:solidFill>
            <a:srgbClr val="F6F8FB"/>
          </a:solidFill>
          <a:ln w="1270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16213A"/>
                </a:solidFill>
                <a:latin typeface="Calibri"/>
              </a:defRPr>
            </a:pPr>
            <a:r>
              <a:t>Conversation Service</a:t>
            </a:r>
          </a:p>
          <a:p>
            <a:pPr>
              <a:defRPr sz="1050">
                <a:solidFill>
                  <a:srgbClr val="5E6B80"/>
                </a:solidFill>
                <a:latin typeface="Calibri"/>
              </a:defRPr>
            </a:pPr>
            <a:r>
              <a:t>one entry point per turn: identity · persistence · orchestration</a:t>
            </a:r>
          </a:p>
        </p:txBody>
      </p:sp>
      <p:sp>
        <p:nvSpPr>
          <p:cNvPr id="8" name="Rounded Rectangle 7"/>
          <p:cNvSpPr/>
          <p:nvPr/>
        </p:nvSpPr>
        <p:spPr>
          <a:xfrm>
            <a:off x="731520" y="3698748"/>
            <a:ext cx="7040880" cy="603504"/>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Agent Workflow</a:t>
            </a:r>
          </a:p>
          <a:p>
            <a:pPr>
              <a:defRPr sz="1050">
                <a:solidFill>
                  <a:srgbClr val="EEF1F7"/>
                </a:solidFill>
                <a:latin typeface="Calibri"/>
              </a:defRPr>
            </a:pPr>
            <a:r>
              <a:t>Coordinator (triage) routes to the AE Engine Analyst specialist</a:t>
            </a:r>
          </a:p>
        </p:txBody>
      </p:sp>
      <p:sp>
        <p:nvSpPr>
          <p:cNvPr id="9" name="Rounded Rectangle 8"/>
          <p:cNvSpPr/>
          <p:nvPr/>
        </p:nvSpPr>
        <p:spPr>
          <a:xfrm>
            <a:off x="731520" y="4425696"/>
            <a:ext cx="7040880" cy="603504"/>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AE MCP Server</a:t>
            </a:r>
          </a:p>
          <a:p>
            <a:pPr>
              <a:defRPr sz="1050">
                <a:solidFill>
                  <a:srgbClr val="EEF1F7"/>
                </a:solidFill>
                <a:latin typeface="Calibri"/>
              </a:defRPr>
            </a:pPr>
            <a:r>
              <a:t>the analyst's bridge to the engine — tools discovered at runtime</a:t>
            </a:r>
          </a:p>
        </p:txBody>
      </p:sp>
      <p:sp>
        <p:nvSpPr>
          <p:cNvPr id="10" name="Rounded Rectangle 9"/>
          <p:cNvSpPr/>
          <p:nvPr/>
        </p:nvSpPr>
        <p:spPr>
          <a:xfrm>
            <a:off x="731520" y="5152644"/>
            <a:ext cx="7040880" cy="603504"/>
          </a:xfrm>
          <a:prstGeom prst="round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500" b="1">
                <a:solidFill>
                  <a:srgbClr val="FFFFFF"/>
                </a:solidFill>
                <a:latin typeface="Calibri"/>
              </a:defRPr>
            </a:pPr>
            <a:r>
              <a:t>AutomationEdge Engine</a:t>
            </a:r>
          </a:p>
          <a:p>
            <a:pPr>
              <a:defRPr sz="1050">
                <a:solidFill>
                  <a:srgbClr val="EEF1F7"/>
                </a:solidFill>
                <a:latin typeface="Calibri"/>
              </a:defRPr>
            </a:pPr>
            <a:r>
              <a:t>the ~64 HDFC workflows, schedules, agents, runs</a:t>
            </a:r>
          </a:p>
        </p:txBody>
      </p:sp>
      <p:sp>
        <p:nvSpPr>
          <p:cNvPr id="11" name="Rounded Rectangle 10"/>
          <p:cNvSpPr/>
          <p:nvPr/>
        </p:nvSpPr>
        <p:spPr>
          <a:xfrm>
            <a:off x="8092440" y="3154680"/>
            <a:ext cx="3337560" cy="914400"/>
          </a:xfrm>
          <a:prstGeom prst="roundRect">
            <a:avLst/>
          </a:prstGeom>
          <a:solidFill>
            <a:srgbClr val="F6F8FB"/>
          </a:solidFill>
          <a:ln w="12700">
            <a:solidFill>
              <a:srgbClr val="16213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a:solidFill>
                  <a:srgbClr val="16213A"/>
                </a:solidFill>
                <a:latin typeface="Calibri"/>
              </a:defRPr>
            </a:pPr>
            <a:r>
              <a:t>PostgreSQL</a:t>
            </a:r>
          </a:p>
          <a:p>
            <a:pPr algn="l">
              <a:defRPr sz="1100" b="0">
                <a:solidFill>
                  <a:srgbClr val="5E6B80"/>
                </a:solidFill>
                <a:latin typeface="Calibri"/>
              </a:defRPr>
            </a:pPr>
            <a:r>
              <a:t>durable state + full audit</a:t>
            </a:r>
          </a:p>
        </p:txBody>
      </p:sp>
      <p:sp>
        <p:nvSpPr>
          <p:cNvPr id="12" name="Left Arrow 11"/>
          <p:cNvSpPr/>
          <p:nvPr/>
        </p:nvSpPr>
        <p:spPr>
          <a:xfrm>
            <a:off x="7635240" y="3502152"/>
            <a:ext cx="411480" cy="219456"/>
          </a:xfrm>
          <a:prstGeom prst="leftArrow">
            <a:avLst/>
          </a:prstGeom>
          <a:solidFill>
            <a:srgbClr val="1621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92440" y="4526280"/>
            <a:ext cx="3337560" cy="914400"/>
          </a:xfrm>
          <a:prstGeom prst="roundRect">
            <a:avLst/>
          </a:prstGeom>
          <a:solidFill>
            <a:srgbClr val="F6F8FB"/>
          </a:solidFill>
          <a:ln w="12700">
            <a:solidFill>
              <a:srgbClr val="E88A1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1400" b="1">
                <a:solidFill>
                  <a:srgbClr val="16213A"/>
                </a:solidFill>
                <a:latin typeface="Calibri"/>
              </a:defRPr>
            </a:pPr>
            <a:r>
              <a:t>Azure OpenAI</a:t>
            </a:r>
          </a:p>
          <a:p>
            <a:pPr algn="l">
              <a:defRPr sz="1100" b="0">
                <a:solidFill>
                  <a:srgbClr val="5E6B80"/>
                </a:solidFill>
                <a:latin typeface="Calibri"/>
              </a:defRPr>
            </a:pPr>
            <a:r>
              <a:t>the reasoning model</a:t>
            </a:r>
          </a:p>
        </p:txBody>
      </p:sp>
      <p:sp>
        <p:nvSpPr>
          <p:cNvPr id="14" name="Left Arrow 13"/>
          <p:cNvSpPr/>
          <p:nvPr/>
        </p:nvSpPr>
        <p:spPr>
          <a:xfrm>
            <a:off x="7635240" y="4873752"/>
            <a:ext cx="411480" cy="219456"/>
          </a:xfrm>
          <a:prstGeom prst="leftArrow">
            <a:avLst/>
          </a:prstGeom>
          <a:solidFill>
            <a:srgbClr val="E88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455664"/>
            <a:ext cx="10881360" cy="292608"/>
          </a:xfrm>
          <a:prstGeom prst="rect">
            <a:avLst/>
          </a:prstGeom>
          <a:noFill/>
        </p:spPr>
        <p:txBody>
          <a:bodyPr wrap="square" anchor="t">
            <a:spAutoFit/>
          </a:bodyPr>
          <a:lstStyle/>
          <a:p>
            <a:pPr algn="l">
              <a:defRPr sz="900" b="0">
                <a:solidFill>
                  <a:srgbClr val="5E6B80"/>
                </a:solidFill>
                <a:latin typeface="Calibri"/>
              </a:defRPr>
            </a:pPr>
            <a:r>
              <a:t>Agentic L1 Support  ·  HDFC × AutomationEdge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146304" cy="56692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38912"/>
            <a:ext cx="10698480" cy="960120"/>
          </a:xfrm>
          <a:prstGeom prst="rect">
            <a:avLst/>
          </a:prstGeom>
          <a:noFill/>
        </p:spPr>
        <p:txBody>
          <a:bodyPr wrap="square" anchor="t">
            <a:spAutoFit/>
          </a:bodyPr>
          <a:lstStyle/>
          <a:p>
            <a:pPr algn="l">
              <a:defRPr sz="1200" b="1">
                <a:solidFill>
                  <a:srgbClr val="2E86DE"/>
                </a:solidFill>
                <a:latin typeface="Calibri"/>
              </a:defRPr>
            </a:pPr>
            <a:r>
              <a:t>REQUEST FLOW</a:t>
            </a:r>
          </a:p>
          <a:p>
            <a:pPr algn="l">
              <a:defRPr sz="2700" b="1">
                <a:solidFill>
                  <a:srgbClr val="16213A"/>
                </a:solidFill>
                <a:latin typeface="Calibri"/>
              </a:defRPr>
            </a:pPr>
            <a:r>
              <a:t>The life of one L1 request</a:t>
            </a:r>
          </a:p>
        </p:txBody>
      </p:sp>
      <p:sp>
        <p:nvSpPr>
          <p:cNvPr id="4" name="Rectangle 3"/>
          <p:cNvSpPr/>
          <p:nvPr/>
        </p:nvSpPr>
        <p:spPr>
          <a:xfrm>
            <a:off x="640080" y="1389888"/>
            <a:ext cx="10881360" cy="25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2423160"/>
            <a:ext cx="1874519" cy="1554480"/>
          </a:xfrm>
          <a:prstGeom prst="round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User asks</a:t>
            </a:r>
          </a:p>
          <a:p>
            <a:pPr algn="ctr">
              <a:defRPr sz="1100" b="0">
                <a:solidFill>
                  <a:srgbClr val="EEF1F7"/>
                </a:solidFill>
                <a:latin typeface="Calibri"/>
              </a:defRPr>
            </a:pPr>
            <a:r>
              <a:t>in Teams</a:t>
            </a:r>
          </a:p>
        </p:txBody>
      </p:sp>
      <p:sp>
        <p:nvSpPr>
          <p:cNvPr id="6" name="Right Arrow 5"/>
          <p:cNvSpPr/>
          <p:nvPr/>
        </p:nvSpPr>
        <p:spPr>
          <a:xfrm>
            <a:off x="2532887" y="3090672"/>
            <a:ext cx="340615" cy="219456"/>
          </a:xfrm>
          <a:prstGeom prst="rightArrow">
            <a:avLst/>
          </a:prstGeom>
          <a:solidFill>
            <a:srgbClr val="5E6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891790" y="2423160"/>
            <a:ext cx="1874519" cy="1554480"/>
          </a:xfrm>
          <a:prstGeom prst="roundRect">
            <a:avLst/>
          </a:prstGeom>
          <a:solidFill>
            <a:srgbClr val="1621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Coordinator</a:t>
            </a:r>
          </a:p>
          <a:p>
            <a:pPr algn="ctr">
              <a:defRPr sz="1100" b="0">
                <a:solidFill>
                  <a:srgbClr val="EEF1F7"/>
                </a:solidFill>
                <a:latin typeface="Calibri"/>
              </a:defRPr>
            </a:pPr>
            <a:r>
              <a:t>routes to the AE analyst</a:t>
            </a:r>
          </a:p>
        </p:txBody>
      </p:sp>
      <p:sp>
        <p:nvSpPr>
          <p:cNvPr id="8" name="Right Arrow 7"/>
          <p:cNvSpPr/>
          <p:nvPr/>
        </p:nvSpPr>
        <p:spPr>
          <a:xfrm>
            <a:off x="4784597" y="3090672"/>
            <a:ext cx="340615" cy="219456"/>
          </a:xfrm>
          <a:prstGeom prst="rightArrow">
            <a:avLst/>
          </a:prstGeom>
          <a:solidFill>
            <a:srgbClr val="5E6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43500" y="2423160"/>
            <a:ext cx="1874519" cy="1554480"/>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AE analyst</a:t>
            </a:r>
          </a:p>
          <a:p>
            <a:pPr algn="ctr">
              <a:defRPr sz="1100" b="0">
                <a:solidFill>
                  <a:srgbClr val="EEF1F7"/>
                </a:solidFill>
                <a:latin typeface="Calibri"/>
              </a:defRPr>
            </a:pPr>
            <a:r>
              <a:t>calls the AE MCP server</a:t>
            </a:r>
          </a:p>
        </p:txBody>
      </p:sp>
      <p:sp>
        <p:nvSpPr>
          <p:cNvPr id="10" name="Right Arrow 9"/>
          <p:cNvSpPr/>
          <p:nvPr/>
        </p:nvSpPr>
        <p:spPr>
          <a:xfrm>
            <a:off x="7036307" y="3090672"/>
            <a:ext cx="340615" cy="219456"/>
          </a:xfrm>
          <a:prstGeom prst="rightArrow">
            <a:avLst/>
          </a:prstGeom>
          <a:solidFill>
            <a:srgbClr val="5E6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95210" y="2423160"/>
            <a:ext cx="1874519" cy="1554480"/>
          </a:xfrm>
          <a:prstGeom prst="roundRect">
            <a:avLst/>
          </a:prstGeom>
          <a:solidFill>
            <a:srgbClr val="E8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Approval</a:t>
            </a:r>
          </a:p>
          <a:p>
            <a:pPr algn="ctr">
              <a:defRPr sz="1100" b="0">
                <a:solidFill>
                  <a:srgbClr val="EEF1F7"/>
                </a:solidFill>
                <a:latin typeface="Calibri"/>
              </a:defRPr>
            </a:pPr>
            <a:r>
              <a:t>if the action is risky</a:t>
            </a:r>
          </a:p>
        </p:txBody>
      </p:sp>
      <p:sp>
        <p:nvSpPr>
          <p:cNvPr id="12" name="Right Arrow 11"/>
          <p:cNvSpPr/>
          <p:nvPr/>
        </p:nvSpPr>
        <p:spPr>
          <a:xfrm>
            <a:off x="9288017" y="3090672"/>
            <a:ext cx="340615" cy="219456"/>
          </a:xfrm>
          <a:prstGeom prst="rightArrow">
            <a:avLst/>
          </a:prstGeom>
          <a:solidFill>
            <a:srgbClr val="5E6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46921" y="2423160"/>
            <a:ext cx="1874519" cy="1554480"/>
          </a:xfrm>
          <a:prstGeom prst="round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FFFFF"/>
                </a:solidFill>
                <a:latin typeface="Calibri"/>
              </a:defRPr>
            </a:pPr>
            <a:r>
              <a:t>Result</a:t>
            </a:r>
          </a:p>
          <a:p>
            <a:pPr algn="ctr">
              <a:defRPr sz="1100" b="0">
                <a:solidFill>
                  <a:srgbClr val="EEF1F7"/>
                </a:solidFill>
                <a:latin typeface="Calibri"/>
              </a:defRPr>
            </a:pPr>
            <a:r>
              <a:t>reply / notify</a:t>
            </a:r>
          </a:p>
        </p:txBody>
      </p:sp>
      <p:sp>
        <p:nvSpPr>
          <p:cNvPr id="14" name="Rounded Rectangle 13"/>
          <p:cNvSpPr/>
          <p:nvPr/>
        </p:nvSpPr>
        <p:spPr>
          <a:xfrm>
            <a:off x="640080" y="4526280"/>
            <a:ext cx="10881360" cy="914400"/>
          </a:xfrm>
          <a:prstGeom prst="round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50" b="1">
                <a:solidFill>
                  <a:srgbClr val="16213A"/>
                </a:solidFill>
                <a:latin typeface="Calibri"/>
              </a:defRPr>
            </a:pPr>
            <a:r>
              <a:t>Read-only answers return instantly. Risky actions pause for approval — then the SAME conversation resumes from its checkpoint, runs the action, and reports back. Every step is persisted, resumable, and audited.</a:t>
            </a:r>
          </a:p>
        </p:txBody>
      </p:sp>
      <p:sp>
        <p:nvSpPr>
          <p:cNvPr id="15" name="TextBox 14"/>
          <p:cNvSpPr txBox="1"/>
          <p:nvPr/>
        </p:nvSpPr>
        <p:spPr>
          <a:xfrm>
            <a:off x="640080" y="6455664"/>
            <a:ext cx="10881360" cy="292608"/>
          </a:xfrm>
          <a:prstGeom prst="rect">
            <a:avLst/>
          </a:prstGeom>
          <a:noFill/>
        </p:spPr>
        <p:txBody>
          <a:bodyPr wrap="square" anchor="t">
            <a:spAutoFit/>
          </a:bodyPr>
          <a:lstStyle/>
          <a:p>
            <a:pPr algn="l">
              <a:defRPr sz="900" b="0">
                <a:solidFill>
                  <a:srgbClr val="5E6B80"/>
                </a:solidFill>
                <a:latin typeface="Calibri"/>
              </a:defRPr>
            </a:pPr>
            <a:r>
              <a:t>Agentic L1 Support  ·  HDFC × AutomationEdge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146304" cy="56692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38912"/>
            <a:ext cx="10698480" cy="960120"/>
          </a:xfrm>
          <a:prstGeom prst="rect">
            <a:avLst/>
          </a:prstGeom>
          <a:noFill/>
        </p:spPr>
        <p:txBody>
          <a:bodyPr wrap="square" anchor="t">
            <a:spAutoFit/>
          </a:bodyPr>
          <a:lstStyle/>
          <a:p>
            <a:pPr algn="l">
              <a:defRPr sz="1200" b="1">
                <a:solidFill>
                  <a:srgbClr val="2E86DE"/>
                </a:solidFill>
                <a:latin typeface="Calibri"/>
              </a:defRPr>
            </a:pPr>
            <a:r>
              <a:t>GUARDRAILS</a:t>
            </a:r>
          </a:p>
          <a:p>
            <a:pPr algn="l">
              <a:defRPr sz="2700" b="1">
                <a:solidFill>
                  <a:srgbClr val="16213A"/>
                </a:solidFill>
                <a:latin typeface="Calibri"/>
              </a:defRPr>
            </a:pPr>
            <a:r>
              <a:t>Why this is safe to run for a bank</a:t>
            </a:r>
          </a:p>
        </p:txBody>
      </p:sp>
      <p:sp>
        <p:nvSpPr>
          <p:cNvPr id="4" name="Rectangle 3"/>
          <p:cNvSpPr/>
          <p:nvPr/>
        </p:nvSpPr>
        <p:spPr>
          <a:xfrm>
            <a:off x="640080" y="1389888"/>
            <a:ext cx="10881360" cy="25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72768"/>
            <a:ext cx="10607040" cy="4709160"/>
          </a:xfrm>
          <a:prstGeom prst="rect">
            <a:avLst/>
          </a:prstGeom>
          <a:noFill/>
        </p:spPr>
        <p:txBody>
          <a:bodyPr wrap="square">
            <a:spAutoFit/>
          </a:bodyPr>
          <a:lstStyle/>
          <a:p>
            <a:pPr>
              <a:spcAft>
                <a:spcPts val="800"/>
              </a:spcAft>
              <a:defRPr sz="1650">
                <a:solidFill>
                  <a:srgbClr val="202836"/>
                </a:solidFill>
                <a:latin typeface="Calibri"/>
              </a:defRPr>
            </a:pPr>
            <a:r>
              <a:t>•  Human approval before state-changing actions — the user sees a card and must click before anything runs.</a:t>
            </a:r>
          </a:p>
          <a:p>
            <a:pPr>
              <a:spcAft>
                <a:spcPts val="800"/>
              </a:spcAft>
              <a:defRPr sz="1650">
                <a:solidFill>
                  <a:srgbClr val="202836"/>
                </a:solidFill>
                <a:latin typeface="Calibri"/>
              </a:defRPr>
            </a:pPr>
            <a:r>
              <a:t>•  Durable, resumable conversations — checkpointed to Postgres, so a crash or deploy mid-approval never strands a request.</a:t>
            </a:r>
          </a:p>
          <a:p>
            <a:pPr>
              <a:spcAft>
                <a:spcPts val="800"/>
              </a:spcAft>
              <a:defRPr sz="1650">
                <a:solidFill>
                  <a:srgbClr val="202836"/>
                </a:solidFill>
                <a:latin typeface="Calibri"/>
              </a:defRPr>
            </a:pPr>
            <a:r>
              <a:t>•  Full audit trail — every message, action, tool call, approval decision, and model call is recorded.</a:t>
            </a:r>
          </a:p>
          <a:p>
            <a:pPr>
              <a:spcAft>
                <a:spcPts val="800"/>
              </a:spcAft>
              <a:defRPr sz="1650">
                <a:solidFill>
                  <a:srgbClr val="202836"/>
                </a:solidFill>
                <a:latin typeface="Calibri"/>
              </a:defRPr>
            </a:pPr>
            <a:r>
              <a:t>•  Long runs don't block the chat — background execution with proactive notification on completion.</a:t>
            </a:r>
          </a:p>
          <a:p>
            <a:pPr>
              <a:spcAft>
                <a:spcPts val="800"/>
              </a:spcAft>
              <a:defRPr sz="1650">
                <a:solidFill>
                  <a:srgbClr val="202836"/>
                </a:solidFill>
                <a:latin typeface="Calibri"/>
              </a:defRPr>
            </a:pPr>
            <a:r>
              <a:t>•  One narrow access path — only the AE analyst reaches the engine, only through the MCP server: a single, observable choke point.</a:t>
            </a:r>
          </a:p>
        </p:txBody>
      </p:sp>
      <p:sp>
        <p:nvSpPr>
          <p:cNvPr id="6" name="TextBox 5"/>
          <p:cNvSpPr txBox="1"/>
          <p:nvPr/>
        </p:nvSpPr>
        <p:spPr>
          <a:xfrm>
            <a:off x="640080" y="6455664"/>
            <a:ext cx="10881360" cy="292608"/>
          </a:xfrm>
          <a:prstGeom prst="rect">
            <a:avLst/>
          </a:prstGeom>
          <a:noFill/>
        </p:spPr>
        <p:txBody>
          <a:bodyPr wrap="square" anchor="t">
            <a:spAutoFit/>
          </a:bodyPr>
          <a:lstStyle/>
          <a:p>
            <a:pPr algn="l">
              <a:defRPr sz="900" b="0">
                <a:solidFill>
                  <a:srgbClr val="5E6B80"/>
                </a:solidFill>
                <a:latin typeface="Calibri"/>
              </a:defRPr>
            </a:pPr>
            <a:r>
              <a:t>Agentic L1 Support  ·  HDFC × AutomationEdge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146304" cy="56692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38912"/>
            <a:ext cx="10698480" cy="960120"/>
          </a:xfrm>
          <a:prstGeom prst="rect">
            <a:avLst/>
          </a:prstGeom>
          <a:noFill/>
        </p:spPr>
        <p:txBody>
          <a:bodyPr wrap="square" anchor="t">
            <a:spAutoFit/>
          </a:bodyPr>
          <a:lstStyle/>
          <a:p>
            <a:pPr algn="l">
              <a:defRPr sz="1200" b="1">
                <a:solidFill>
                  <a:srgbClr val="2E86DE"/>
                </a:solidFill>
                <a:latin typeface="Calibri"/>
              </a:defRPr>
            </a:pPr>
            <a:r>
              <a:t>VALUE</a:t>
            </a:r>
          </a:p>
          <a:p>
            <a:pPr algn="l">
              <a:defRPr sz="2700" b="1">
                <a:solidFill>
                  <a:srgbClr val="16213A"/>
                </a:solidFill>
                <a:latin typeface="Calibri"/>
              </a:defRPr>
            </a:pPr>
            <a:r>
              <a:t>Why it matters — for HDFC and for AE</a:t>
            </a:r>
          </a:p>
        </p:txBody>
      </p:sp>
      <p:sp>
        <p:nvSpPr>
          <p:cNvPr id="4" name="Rectangle 3"/>
          <p:cNvSpPr/>
          <p:nvPr/>
        </p:nvSpPr>
        <p:spPr>
          <a:xfrm>
            <a:off x="640080" y="1389888"/>
            <a:ext cx="10881360" cy="25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72768"/>
            <a:ext cx="10607040" cy="4709160"/>
          </a:xfrm>
          <a:prstGeom prst="rect">
            <a:avLst/>
          </a:prstGeom>
          <a:noFill/>
        </p:spPr>
        <p:txBody>
          <a:bodyPr wrap="square">
            <a:spAutoFit/>
          </a:bodyPr>
          <a:lstStyle/>
          <a:p>
            <a:pPr>
              <a:spcBef>
                <a:spcPts val="800"/>
              </a:spcBef>
              <a:spcAft>
                <a:spcPts val="400"/>
              </a:spcAft>
              <a:defRPr sz="1500" b="1">
                <a:solidFill>
                  <a:srgbClr val="12A594"/>
                </a:solidFill>
                <a:latin typeface="Calibri"/>
              </a:defRPr>
            </a:pPr>
            <a:r>
              <a:t>For HDFC</a:t>
            </a:r>
          </a:p>
          <a:p>
            <a:pPr lvl="1">
              <a:spcAft>
                <a:spcPts val="500"/>
              </a:spcAft>
              <a:defRPr sz="1400">
                <a:solidFill>
                  <a:srgbClr val="5E6B80"/>
                </a:solidFill>
                <a:latin typeface="Calibri"/>
              </a:defRPr>
            </a:pPr>
            <a:r>
              <a:t>–  Faster L1 resolution + 24/7 conversational self-serve in Teams for the people who keep the 64 workflows healthy.</a:t>
            </a:r>
          </a:p>
          <a:p>
            <a:pPr lvl="1">
              <a:spcAft>
                <a:spcPts val="500"/>
              </a:spcAft>
              <a:defRPr sz="1400">
                <a:solidFill>
                  <a:srgbClr val="5E6B80"/>
                </a:solidFill>
                <a:latin typeface="Calibri"/>
              </a:defRPr>
            </a:pPr>
            <a:r>
              <a:t>–  Fewer manual lookups and fewer escalations — routine monitoring, re-runs, and error checks handled in chat.</a:t>
            </a:r>
          </a:p>
          <a:p>
            <a:pPr lvl="1">
              <a:spcAft>
                <a:spcPts val="500"/>
              </a:spcAft>
              <a:defRPr sz="1400">
                <a:solidFill>
                  <a:srgbClr val="5E6B80"/>
                </a:solidFill>
                <a:latin typeface="Calibri"/>
              </a:defRPr>
            </a:pPr>
            <a:r>
              <a:t>–  Consistent, approval-gated, fully audited actions — built for a bank.</a:t>
            </a:r>
          </a:p>
          <a:p>
            <a:pPr>
              <a:spcBef>
                <a:spcPts val="800"/>
              </a:spcBef>
              <a:spcAft>
                <a:spcPts val="400"/>
              </a:spcAft>
              <a:defRPr sz="1500" b="1">
                <a:solidFill>
                  <a:srgbClr val="12A594"/>
                </a:solidFill>
                <a:latin typeface="Calibri"/>
              </a:defRPr>
            </a:pPr>
            <a:r>
              <a:t>For AE</a:t>
            </a:r>
          </a:p>
          <a:p>
            <a:pPr lvl="1">
              <a:spcAft>
                <a:spcPts val="500"/>
              </a:spcAft>
              <a:defRPr sz="1400">
                <a:solidFill>
                  <a:srgbClr val="5E6B80"/>
                </a:solidFill>
                <a:latin typeface="Calibri"/>
              </a:defRPr>
            </a:pPr>
            <a:r>
              <a:t>–  Productize L1 support as a reusable platform — scale across the 64 workflows and beyond.</a:t>
            </a:r>
          </a:p>
          <a:p>
            <a:pPr lvl="1">
              <a:spcAft>
                <a:spcPts val="500"/>
              </a:spcAft>
              <a:defRPr sz="1400">
                <a:solidFill>
                  <a:srgbClr val="5E6B80"/>
                </a:solidFill>
                <a:latin typeface="Calibri"/>
              </a:defRPr>
            </a:pPr>
            <a:r>
              <a:t>–  Move L1 from “people who know the engine” to an audited assistant anyone can talk to — instead of staffing experts per shift.</a:t>
            </a:r>
          </a:p>
        </p:txBody>
      </p:sp>
      <p:sp>
        <p:nvSpPr>
          <p:cNvPr id="6" name="TextBox 5"/>
          <p:cNvSpPr txBox="1"/>
          <p:nvPr/>
        </p:nvSpPr>
        <p:spPr>
          <a:xfrm>
            <a:off x="640080" y="6455664"/>
            <a:ext cx="10881360" cy="292608"/>
          </a:xfrm>
          <a:prstGeom prst="rect">
            <a:avLst/>
          </a:prstGeom>
          <a:noFill/>
        </p:spPr>
        <p:txBody>
          <a:bodyPr wrap="square" anchor="t">
            <a:spAutoFit/>
          </a:bodyPr>
          <a:lstStyle/>
          <a:p>
            <a:pPr algn="l">
              <a:defRPr sz="900" b="0">
                <a:solidFill>
                  <a:srgbClr val="5E6B80"/>
                </a:solidFill>
                <a:latin typeface="Calibri"/>
              </a:defRPr>
            </a:pPr>
            <a:r>
              <a:t>Agentic L1 Support  ·  HDFC × AutomationEdge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146304" cy="56692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38912"/>
            <a:ext cx="10698480" cy="960120"/>
          </a:xfrm>
          <a:prstGeom prst="rect">
            <a:avLst/>
          </a:prstGeom>
          <a:noFill/>
        </p:spPr>
        <p:txBody>
          <a:bodyPr wrap="square" anchor="t">
            <a:spAutoFit/>
          </a:bodyPr>
          <a:lstStyle/>
          <a:p>
            <a:pPr algn="l">
              <a:defRPr sz="1200" b="1">
                <a:solidFill>
                  <a:srgbClr val="2E86DE"/>
                </a:solidFill>
                <a:latin typeface="Calibri"/>
              </a:defRPr>
            </a:pPr>
            <a:r>
              <a:t>STATUS &amp; ROADMAP</a:t>
            </a:r>
          </a:p>
          <a:p>
            <a:pPr algn="l">
              <a:defRPr sz="2700" b="1">
                <a:solidFill>
                  <a:srgbClr val="16213A"/>
                </a:solidFill>
                <a:latin typeface="Calibri"/>
              </a:defRPr>
            </a:pPr>
            <a:r>
              <a:t>Where we are — built vs planned</a:t>
            </a:r>
          </a:p>
        </p:txBody>
      </p:sp>
      <p:sp>
        <p:nvSpPr>
          <p:cNvPr id="4" name="Rectangle 3"/>
          <p:cNvSpPr/>
          <p:nvPr/>
        </p:nvSpPr>
        <p:spPr>
          <a:xfrm>
            <a:off x="640080" y="1389888"/>
            <a:ext cx="10881360" cy="25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627632"/>
            <a:ext cx="3611880" cy="512064"/>
          </a:xfrm>
          <a:prstGeom prst="roundRect">
            <a:avLst/>
          </a:prstGeom>
          <a:solidFill>
            <a:srgbClr val="12A59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BUILT  (platform)</a:t>
            </a:r>
          </a:p>
        </p:txBody>
      </p:sp>
      <p:sp>
        <p:nvSpPr>
          <p:cNvPr id="6" name="Rounded Rectangle 5"/>
          <p:cNvSpPr/>
          <p:nvPr/>
        </p:nvSpPr>
        <p:spPr>
          <a:xfrm>
            <a:off x="658368" y="2212848"/>
            <a:ext cx="3611880" cy="3886200"/>
          </a:xfrm>
          <a:prstGeom prst="roundRect">
            <a:avLst/>
          </a:prstGeom>
          <a:solidFill>
            <a:srgbClr val="F6F8FB"/>
          </a:solidFill>
          <a:ln w="1270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46304" rIns="109728"/>
          <a:lstStyle/>
          <a:p>
            <a:pPr algn="ctr">
              <a:spcAft>
                <a:spcPts val="700"/>
              </a:spcAft>
              <a:defRPr sz="1250">
                <a:solidFill>
                  <a:srgbClr val="202836"/>
                </a:solidFill>
                <a:latin typeface="Calibri"/>
              </a:defRPr>
            </a:pPr>
            <a:r>
              <a:t>•  Multi-agent handoff (triage → AE analyst)</a:t>
            </a:r>
          </a:p>
          <a:p>
            <a:pPr>
              <a:spcAft>
                <a:spcPts val="700"/>
              </a:spcAft>
              <a:defRPr sz="1250">
                <a:solidFill>
                  <a:srgbClr val="202836"/>
                </a:solidFill>
                <a:latin typeface="Calibri"/>
              </a:defRPr>
            </a:pPr>
            <a:r>
              <a:t>•  Live AE MCP connection</a:t>
            </a:r>
          </a:p>
          <a:p>
            <a:pPr>
              <a:spcAft>
                <a:spcPts val="700"/>
              </a:spcAft>
              <a:defRPr sz="1250">
                <a:solidFill>
                  <a:srgbClr val="202836"/>
                </a:solidFill>
                <a:latin typeface="Calibri"/>
              </a:defRPr>
            </a:pPr>
            <a:r>
              <a:t>•  Human-in-the-loop approvals</a:t>
            </a:r>
          </a:p>
          <a:p>
            <a:pPr>
              <a:spcAft>
                <a:spcPts val="700"/>
              </a:spcAft>
              <a:defRPr sz="1250">
                <a:solidFill>
                  <a:srgbClr val="202836"/>
                </a:solidFill>
                <a:latin typeface="Calibri"/>
              </a:defRPr>
            </a:pPr>
            <a:r>
              <a:t>•  Postgres-durable, resumable chats</a:t>
            </a:r>
          </a:p>
          <a:p>
            <a:pPr>
              <a:spcAft>
                <a:spcPts val="700"/>
              </a:spcAft>
              <a:defRPr sz="1250">
                <a:solidFill>
                  <a:srgbClr val="202836"/>
                </a:solidFill>
                <a:latin typeface="Calibri"/>
              </a:defRPr>
            </a:pPr>
            <a:r>
              <a:t>•  Background tasks + proactive notify</a:t>
            </a:r>
          </a:p>
          <a:p>
            <a:pPr>
              <a:spcAft>
                <a:spcPts val="700"/>
              </a:spcAft>
              <a:defRPr sz="1250">
                <a:solidFill>
                  <a:srgbClr val="202836"/>
                </a:solidFill>
                <a:latin typeface="Calibri"/>
              </a:defRPr>
            </a:pPr>
            <a:r>
              <a:t>•  Full audit &amp; telemetry</a:t>
            </a:r>
          </a:p>
        </p:txBody>
      </p:sp>
      <p:sp>
        <p:nvSpPr>
          <p:cNvPr id="7" name="Rounded Rectangle 6"/>
          <p:cNvSpPr/>
          <p:nvPr/>
        </p:nvSpPr>
        <p:spPr>
          <a:xfrm>
            <a:off x="4434840" y="1627632"/>
            <a:ext cx="3611880" cy="512064"/>
          </a:xfrm>
          <a:prstGeom prst="roundRect">
            <a:avLst/>
          </a:prstGeom>
          <a:solidFill>
            <a:srgbClr val="E88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WIRING UP  (in progress)</a:t>
            </a:r>
          </a:p>
        </p:txBody>
      </p:sp>
      <p:sp>
        <p:nvSpPr>
          <p:cNvPr id="8" name="Rounded Rectangle 7"/>
          <p:cNvSpPr/>
          <p:nvPr/>
        </p:nvSpPr>
        <p:spPr>
          <a:xfrm>
            <a:off x="4434840" y="2212848"/>
            <a:ext cx="3611880" cy="3886200"/>
          </a:xfrm>
          <a:prstGeom prst="roundRect">
            <a:avLst/>
          </a:prstGeom>
          <a:solidFill>
            <a:srgbClr val="F6F8FB"/>
          </a:solidFill>
          <a:ln w="1270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46304" rIns="109728"/>
          <a:lstStyle/>
          <a:p>
            <a:pPr algn="ctr">
              <a:spcAft>
                <a:spcPts val="700"/>
              </a:spcAft>
              <a:defRPr sz="1250">
                <a:solidFill>
                  <a:srgbClr val="202836"/>
                </a:solidFill>
                <a:latin typeface="Calibri"/>
              </a:defRPr>
            </a:pPr>
            <a:r>
              <a:t>•  Real engine ops behind each L1 task (AE MCP tools)</a:t>
            </a:r>
          </a:p>
          <a:p>
            <a:pPr>
              <a:spcAft>
                <a:spcPts val="700"/>
              </a:spcAft>
              <a:defRPr sz="1250">
                <a:solidFill>
                  <a:srgbClr val="202836"/>
                </a:solidFill>
                <a:latin typeface="Calibri"/>
              </a:defRPr>
            </a:pPr>
            <a:r>
              <a:t>•  Approval-gating on engine actions</a:t>
            </a:r>
          </a:p>
          <a:p>
            <a:pPr>
              <a:spcAft>
                <a:spcPts val="700"/>
              </a:spcAft>
              <a:defRPr sz="1250">
                <a:solidFill>
                  <a:srgbClr val="202836"/>
                </a:solidFill>
                <a:latin typeface="Calibri"/>
              </a:defRPr>
            </a:pPr>
            <a:r>
              <a:t>•  Real ticket / ITSM integration (today: demo mock)</a:t>
            </a:r>
          </a:p>
          <a:p>
            <a:pPr>
              <a:spcAft>
                <a:spcPts val="700"/>
              </a:spcAft>
              <a:defRPr sz="1250">
                <a:solidFill>
                  <a:srgbClr val="202836"/>
                </a:solidFill>
                <a:latin typeface="Calibri"/>
              </a:defRPr>
            </a:pPr>
            <a:r>
              <a:t>•  Background job body (today: placeholder)</a:t>
            </a:r>
          </a:p>
          <a:p>
            <a:pPr>
              <a:spcAft>
                <a:spcPts val="700"/>
              </a:spcAft>
              <a:defRPr sz="1250">
                <a:solidFill>
                  <a:srgbClr val="202836"/>
                </a:solidFill>
                <a:latin typeface="Calibri"/>
              </a:defRPr>
            </a:pPr>
            <a:r>
              <a:t>•  Context compaction for long sessions</a:t>
            </a:r>
          </a:p>
        </p:txBody>
      </p:sp>
      <p:sp>
        <p:nvSpPr>
          <p:cNvPr id="9" name="Rounded Rectangle 8"/>
          <p:cNvSpPr/>
          <p:nvPr/>
        </p:nvSpPr>
        <p:spPr>
          <a:xfrm>
            <a:off x="8211312" y="1627632"/>
            <a:ext cx="3611880" cy="512064"/>
          </a:xfrm>
          <a:prstGeom prst="round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FFFFF"/>
                </a:solidFill>
                <a:latin typeface="Calibri"/>
              </a:defRPr>
            </a:pPr>
            <a:r>
              <a:t>NEXT</a:t>
            </a:r>
          </a:p>
        </p:txBody>
      </p:sp>
      <p:sp>
        <p:nvSpPr>
          <p:cNvPr id="10" name="Rounded Rectangle 9"/>
          <p:cNvSpPr/>
          <p:nvPr/>
        </p:nvSpPr>
        <p:spPr>
          <a:xfrm>
            <a:off x="8211312" y="2212848"/>
            <a:ext cx="3611880" cy="3886200"/>
          </a:xfrm>
          <a:prstGeom prst="roundRect">
            <a:avLst/>
          </a:prstGeom>
          <a:solidFill>
            <a:srgbClr val="F6F8FB"/>
          </a:solidFill>
          <a:ln w="12700">
            <a:solidFill>
              <a:srgbClr val="EEF1F7"/>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tIns="146304" rIns="109728"/>
          <a:lstStyle/>
          <a:p>
            <a:pPr algn="ctr">
              <a:spcAft>
                <a:spcPts val="700"/>
              </a:spcAft>
              <a:defRPr sz="1250">
                <a:solidFill>
                  <a:srgbClr val="202836"/>
                </a:solidFill>
                <a:latin typeface="Calibri"/>
              </a:defRPr>
            </a:pPr>
            <a:r>
              <a:t>•  End-to-end L1 runbooks</a:t>
            </a:r>
          </a:p>
          <a:p>
            <a:pPr>
              <a:spcAft>
                <a:spcPts val="700"/>
              </a:spcAft>
              <a:defRPr sz="1250">
                <a:solidFill>
                  <a:srgbClr val="202836"/>
                </a:solidFill>
                <a:latin typeface="Calibri"/>
              </a:defRPr>
            </a:pPr>
            <a:r>
              <a:t>•  Deeper AE engine coverage</a:t>
            </a:r>
          </a:p>
          <a:p>
            <a:pPr>
              <a:spcAft>
                <a:spcPts val="700"/>
              </a:spcAft>
              <a:defRPr sz="1250">
                <a:solidFill>
                  <a:srgbClr val="202836"/>
                </a:solidFill>
                <a:latin typeface="Calibri"/>
              </a:defRPr>
            </a:pPr>
            <a:r>
              <a:t>•  Durable background jobs</a:t>
            </a:r>
          </a:p>
          <a:p>
            <a:pPr>
              <a:spcAft>
                <a:spcPts val="700"/>
              </a:spcAft>
              <a:defRPr sz="1250">
                <a:solidFill>
                  <a:srgbClr val="202836"/>
                </a:solidFill>
                <a:latin typeface="Calibri"/>
              </a:defRPr>
            </a:pPr>
            <a:r>
              <a:t>•  Security &amp; load review before rollout</a:t>
            </a:r>
          </a:p>
        </p:txBody>
      </p:sp>
      <p:sp>
        <p:nvSpPr>
          <p:cNvPr id="11" name="TextBox 10"/>
          <p:cNvSpPr txBox="1"/>
          <p:nvPr/>
        </p:nvSpPr>
        <p:spPr>
          <a:xfrm>
            <a:off x="640080" y="6455664"/>
            <a:ext cx="10881360" cy="292608"/>
          </a:xfrm>
          <a:prstGeom prst="rect">
            <a:avLst/>
          </a:prstGeom>
          <a:noFill/>
        </p:spPr>
        <p:txBody>
          <a:bodyPr wrap="square" anchor="t">
            <a:spAutoFit/>
          </a:bodyPr>
          <a:lstStyle/>
          <a:p>
            <a:pPr algn="l">
              <a:defRPr sz="900" b="0">
                <a:solidFill>
                  <a:srgbClr val="5E6B80"/>
                </a:solidFill>
                <a:latin typeface="Calibri"/>
              </a:defRPr>
            </a:pPr>
            <a:r>
              <a:t>Agentic L1 Support  ·  HDFC × AutomationEdge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502920"/>
            <a:ext cx="146304" cy="566928"/>
          </a:xfrm>
          <a:prstGeom prst="rect">
            <a:avLst/>
          </a:prstGeom>
          <a:solidFill>
            <a:srgbClr val="2E8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438912"/>
            <a:ext cx="10698480" cy="960120"/>
          </a:xfrm>
          <a:prstGeom prst="rect">
            <a:avLst/>
          </a:prstGeom>
          <a:noFill/>
        </p:spPr>
        <p:txBody>
          <a:bodyPr wrap="square" anchor="t">
            <a:spAutoFit/>
          </a:bodyPr>
          <a:lstStyle/>
          <a:p>
            <a:pPr algn="l">
              <a:defRPr sz="1200" b="1">
                <a:solidFill>
                  <a:srgbClr val="2E86DE"/>
                </a:solidFill>
                <a:latin typeface="Calibri"/>
              </a:defRPr>
            </a:pPr>
            <a:r>
              <a:t>SUMMARY</a:t>
            </a:r>
          </a:p>
          <a:p>
            <a:pPr algn="l">
              <a:defRPr sz="2700" b="1">
                <a:solidFill>
                  <a:srgbClr val="16213A"/>
                </a:solidFill>
                <a:latin typeface="Calibri"/>
              </a:defRPr>
            </a:pPr>
            <a:r>
              <a:t>An agentic L1 operator for the AE engine</a:t>
            </a:r>
          </a:p>
        </p:txBody>
      </p:sp>
      <p:sp>
        <p:nvSpPr>
          <p:cNvPr id="4" name="Rectangle 3"/>
          <p:cNvSpPr/>
          <p:nvPr/>
        </p:nvSpPr>
        <p:spPr>
          <a:xfrm>
            <a:off x="640080" y="1389888"/>
            <a:ext cx="10881360" cy="25400"/>
          </a:xfrm>
          <a:prstGeom prst="rect">
            <a:avLst/>
          </a:prstGeom>
          <a:solidFill>
            <a:srgbClr val="EEF1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572768"/>
            <a:ext cx="10607040" cy="4709160"/>
          </a:xfrm>
          <a:prstGeom prst="rect">
            <a:avLst/>
          </a:prstGeom>
          <a:noFill/>
        </p:spPr>
        <p:txBody>
          <a:bodyPr wrap="square">
            <a:spAutoFit/>
          </a:bodyPr>
          <a:lstStyle/>
          <a:p>
            <a:pPr>
              <a:spcAft>
                <a:spcPts val="800"/>
              </a:spcAft>
              <a:defRPr sz="1650">
                <a:solidFill>
                  <a:srgbClr val="202836"/>
                </a:solidFill>
                <a:latin typeface="Calibri"/>
              </a:defRPr>
            </a:pPr>
            <a:r>
              <a:t>•  The problem: manual, reactive L1 support for the 64 AE workflows HDFC depends on daily.</a:t>
            </a:r>
          </a:p>
          <a:p>
            <a:pPr>
              <a:spcAft>
                <a:spcPts val="800"/>
              </a:spcAft>
              <a:defRPr sz="1650">
                <a:solidFill>
                  <a:srgbClr val="202836"/>
                </a:solidFill>
                <a:latin typeface="Calibri"/>
              </a:defRPr>
            </a:pPr>
            <a:r>
              <a:t>•  The solution: a Teams chat agent that performs L1 ops conversationally against the engine via the AE MCP server.</a:t>
            </a:r>
          </a:p>
          <a:p>
            <a:pPr>
              <a:spcAft>
                <a:spcPts val="800"/>
              </a:spcAft>
              <a:defRPr sz="1650">
                <a:solidFill>
                  <a:srgbClr val="202836"/>
                </a:solidFill>
                <a:latin typeface="Calibri"/>
              </a:defRPr>
            </a:pPr>
            <a:r>
              <a:t>•  Already real: durable multi-agent handoff, human approval on risky actions, background runs with proactive notify, full bank-grade audit.</a:t>
            </a:r>
          </a:p>
          <a:p>
            <a:pPr>
              <a:spcAft>
                <a:spcPts val="800"/>
              </a:spcAft>
              <a:defRPr sz="1650">
                <a:solidFill>
                  <a:srgbClr val="202836"/>
                </a:solidFill>
                <a:latin typeface="Calibri"/>
              </a:defRPr>
            </a:pPr>
            <a:r>
              <a:t>•  The path: compaction + long-session scaling now; real engine operations, deeper coverage, and hardening next.</a:t>
            </a:r>
          </a:p>
          <a:p>
            <a:pPr>
              <a:spcAft>
                <a:spcPts val="800"/>
              </a:spcAft>
              <a:defRPr sz="1650">
                <a:solidFill>
                  <a:srgbClr val="202836"/>
                </a:solidFill>
                <a:latin typeface="Calibri"/>
              </a:defRPr>
            </a:pPr>
            <a:r>
              <a:t>•  The ask: align on the first HDFC L1 runbooks to productionize and which AE MCP tools to prioritize.</a:t>
            </a:r>
          </a:p>
        </p:txBody>
      </p:sp>
      <p:sp>
        <p:nvSpPr>
          <p:cNvPr id="6" name="TextBox 5"/>
          <p:cNvSpPr txBox="1"/>
          <p:nvPr/>
        </p:nvSpPr>
        <p:spPr>
          <a:xfrm>
            <a:off x="640080" y="6455664"/>
            <a:ext cx="10881360" cy="292608"/>
          </a:xfrm>
          <a:prstGeom prst="rect">
            <a:avLst/>
          </a:prstGeom>
          <a:noFill/>
        </p:spPr>
        <p:txBody>
          <a:bodyPr wrap="square" anchor="t">
            <a:spAutoFit/>
          </a:bodyPr>
          <a:lstStyle/>
          <a:p>
            <a:pPr algn="l">
              <a:defRPr sz="900" b="0">
                <a:solidFill>
                  <a:srgbClr val="5E6B80"/>
                </a:solidFill>
                <a:latin typeface="Calibri"/>
              </a:defRPr>
            </a:pPr>
            <a:r>
              <a:t>Agentic L1 Support  ·  HDFC × AutomationEdge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